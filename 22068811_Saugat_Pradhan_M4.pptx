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7" r:id="rId3"/>
    <p:sldId id="258" r:id="rId4"/>
    <p:sldId id="259" r:id="rId5"/>
    <p:sldId id="260" r:id="rId6"/>
    <p:sldId id="261" r:id="rId7"/>
    <p:sldId id="262" r:id="rId8"/>
    <p:sldId id="263" r:id="rId9"/>
    <p:sldId id="265" r:id="rId10"/>
    <p:sldId id="266" r:id="rId11"/>
    <p:sldId id="267"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p:cViewPr varScale="1">
        <p:scale>
          <a:sx n="78" d="100"/>
          <a:sy n="78" d="100"/>
        </p:scale>
        <p:origin x="87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37843DB-B82C-4582-ABDD-3D661F997BAF}"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00A3D9-1D4B-4F13-918F-A4ACA8FF2D5B}" type="slidenum">
              <a:rPr lang="en-US" smtClean="0"/>
              <a:t>‹#›</a:t>
            </a:fld>
            <a:endParaRPr lang="en-US"/>
          </a:p>
        </p:txBody>
      </p:sp>
    </p:spTree>
    <p:extLst>
      <p:ext uri="{BB962C8B-B14F-4D97-AF65-F5344CB8AC3E}">
        <p14:creationId xmlns:p14="http://schemas.microsoft.com/office/powerpoint/2010/main" val="247791697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37843DB-B82C-4582-ABDD-3D661F997BAF}"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00A3D9-1D4B-4F13-918F-A4ACA8FF2D5B}" type="slidenum">
              <a:rPr lang="en-US" smtClean="0"/>
              <a:t>‹#›</a:t>
            </a:fld>
            <a:endParaRPr lang="en-US"/>
          </a:p>
        </p:txBody>
      </p:sp>
    </p:spTree>
    <p:extLst>
      <p:ext uri="{BB962C8B-B14F-4D97-AF65-F5344CB8AC3E}">
        <p14:creationId xmlns:p14="http://schemas.microsoft.com/office/powerpoint/2010/main" val="170953258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37843DB-B82C-4582-ABDD-3D661F997BAF}"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00A3D9-1D4B-4F13-918F-A4ACA8FF2D5B}" type="slidenum">
              <a:rPr lang="en-US" smtClean="0"/>
              <a:t>‹#›</a:t>
            </a:fld>
            <a:endParaRPr lang="en-US"/>
          </a:p>
        </p:txBody>
      </p:sp>
    </p:spTree>
    <p:extLst>
      <p:ext uri="{BB962C8B-B14F-4D97-AF65-F5344CB8AC3E}">
        <p14:creationId xmlns:p14="http://schemas.microsoft.com/office/powerpoint/2010/main" val="159396534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37843DB-B82C-4582-ABDD-3D661F997BAF}" type="datetimeFigureOut">
              <a:rPr lang="en-US" smtClean="0"/>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00A3D9-1D4B-4F13-918F-A4ACA8FF2D5B}" type="slidenum">
              <a:rPr lang="en-US" smtClean="0"/>
              <a:t>‹#›</a:t>
            </a:fld>
            <a:endParaRPr lang="en-US"/>
          </a:p>
        </p:txBody>
      </p:sp>
    </p:spTree>
    <p:extLst>
      <p:ext uri="{BB962C8B-B14F-4D97-AF65-F5344CB8AC3E}">
        <p14:creationId xmlns:p14="http://schemas.microsoft.com/office/powerpoint/2010/main" val="367856825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37843DB-B82C-4582-ABDD-3D661F997BAF}" type="datetimeFigureOut">
              <a:rPr lang="en-US" smtClean="0"/>
              <a:t>5/20/2026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E00A3D9-1D4B-4F13-918F-A4ACA8FF2D5B}" type="slidenum">
              <a:rPr lang="en-US" smtClean="0"/>
              <a:t>‹#›</a:t>
            </a:fld>
            <a:endParaRPr lang="en-US"/>
          </a:p>
        </p:txBody>
      </p:sp>
    </p:spTree>
    <p:extLst>
      <p:ext uri="{BB962C8B-B14F-4D97-AF65-F5344CB8AC3E}">
        <p14:creationId xmlns:p14="http://schemas.microsoft.com/office/powerpoint/2010/main" val="179486989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37843DB-B82C-4582-ABDD-3D661F997BAF}" type="datetimeFigureOut">
              <a:rPr lang="en-US" smtClean="0"/>
              <a:t>5/20/2026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E00A3D9-1D4B-4F13-918F-A4ACA8FF2D5B}" type="slidenum">
              <a:rPr lang="en-US" smtClean="0"/>
              <a:t>‹#›</a:t>
            </a:fld>
            <a:endParaRPr lang="en-US"/>
          </a:p>
        </p:txBody>
      </p:sp>
    </p:spTree>
    <p:extLst>
      <p:ext uri="{BB962C8B-B14F-4D97-AF65-F5344CB8AC3E}">
        <p14:creationId xmlns:p14="http://schemas.microsoft.com/office/powerpoint/2010/main" val="298407537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37843DB-B82C-4582-ABDD-3D661F997BAF}" type="datetimeFigureOut">
              <a:rPr lang="en-US" smtClean="0"/>
              <a:t>5/20/2026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E00A3D9-1D4B-4F13-918F-A4ACA8FF2D5B}" type="slidenum">
              <a:rPr lang="en-US" smtClean="0"/>
              <a:t>‹#›</a:t>
            </a:fld>
            <a:endParaRPr lang="en-US"/>
          </a:p>
        </p:txBody>
      </p:sp>
    </p:spTree>
    <p:extLst>
      <p:ext uri="{BB962C8B-B14F-4D97-AF65-F5344CB8AC3E}">
        <p14:creationId xmlns:p14="http://schemas.microsoft.com/office/powerpoint/2010/main" val="142481762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37843DB-B82C-4582-ABDD-3D661F997BAF}" type="datetimeFigureOut">
              <a:rPr lang="en-US" smtClean="0"/>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00A3D9-1D4B-4F13-918F-A4ACA8FF2D5B}" type="slidenum">
              <a:rPr lang="en-US" smtClean="0"/>
              <a:t>‹#›</a:t>
            </a:fld>
            <a:endParaRPr lang="en-US"/>
          </a:p>
        </p:txBody>
      </p:sp>
    </p:spTree>
    <p:extLst>
      <p:ext uri="{BB962C8B-B14F-4D97-AF65-F5344CB8AC3E}">
        <p14:creationId xmlns:p14="http://schemas.microsoft.com/office/powerpoint/2010/main" val="227785652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37843DB-B82C-4582-ABDD-3D661F997BAF}" type="datetimeFigureOut">
              <a:rPr lang="en-US" smtClean="0"/>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00A3D9-1D4B-4F13-918F-A4ACA8FF2D5B}" type="slidenum">
              <a:rPr lang="en-US" smtClean="0"/>
              <a:t>‹#›</a:t>
            </a:fld>
            <a:endParaRPr lang="en-US"/>
          </a:p>
        </p:txBody>
      </p:sp>
    </p:spTree>
    <p:extLst>
      <p:ext uri="{BB962C8B-B14F-4D97-AF65-F5344CB8AC3E}">
        <p14:creationId xmlns:p14="http://schemas.microsoft.com/office/powerpoint/2010/main" val="321525566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37843DB-B82C-4582-ABDD-3D661F997BAF}" type="datetimeFigureOut">
              <a:rPr lang="en-US" smtClean="0"/>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00A3D9-1D4B-4F13-918F-A4ACA8FF2D5B}" type="slidenum">
              <a:rPr lang="en-US" smtClean="0"/>
              <a:t>‹#›</a:t>
            </a:fld>
            <a:endParaRPr lang="en-US"/>
          </a:p>
        </p:txBody>
      </p:sp>
    </p:spTree>
    <p:extLst>
      <p:ext uri="{BB962C8B-B14F-4D97-AF65-F5344CB8AC3E}">
        <p14:creationId xmlns:p14="http://schemas.microsoft.com/office/powerpoint/2010/main" val="61364456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37843DB-B82C-4582-ABDD-3D661F997BAF}" type="datetimeFigureOut">
              <a:rPr lang="en-US" smtClean="0"/>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00A3D9-1D4B-4F13-918F-A4ACA8FF2D5B}" type="slidenum">
              <a:rPr lang="en-US" smtClean="0"/>
              <a:t>‹#›</a:t>
            </a:fld>
            <a:endParaRPr lang="en-US"/>
          </a:p>
        </p:txBody>
      </p:sp>
    </p:spTree>
    <p:extLst>
      <p:ext uri="{BB962C8B-B14F-4D97-AF65-F5344CB8AC3E}">
        <p14:creationId xmlns:p14="http://schemas.microsoft.com/office/powerpoint/2010/main" val="337232460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37843DB-B82C-4582-ABDD-3D661F997BAF}" type="datetimeFigureOut">
              <a:rPr lang="en-US" smtClean="0"/>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00A3D9-1D4B-4F13-918F-A4ACA8FF2D5B}" type="slidenum">
              <a:rPr lang="en-US" smtClean="0"/>
              <a:t>‹#›</a:t>
            </a:fld>
            <a:endParaRPr lang="en-US"/>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4824300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37843DB-B82C-4582-ABDD-3D661F997BAF}" type="datetimeFigureOut">
              <a:rPr lang="en-US" smtClean="0"/>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00A3D9-1D4B-4F13-918F-A4ACA8FF2D5B}" type="slidenum">
              <a:rPr lang="en-US" smtClean="0"/>
              <a:t>‹#›</a:t>
            </a:fld>
            <a:endParaRPr lang="en-US"/>
          </a:p>
        </p:txBody>
      </p:sp>
    </p:spTree>
    <p:extLst>
      <p:ext uri="{BB962C8B-B14F-4D97-AF65-F5344CB8AC3E}">
        <p14:creationId xmlns:p14="http://schemas.microsoft.com/office/powerpoint/2010/main" val="361340385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E37843DB-B82C-4582-ABDD-3D661F997BAF}" type="datetimeFigureOut">
              <a:rPr lang="en-US" smtClean="0"/>
              <a:t>5/20/2026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E00A3D9-1D4B-4F13-918F-A4ACA8FF2D5B}" type="slidenum">
              <a:rPr lang="en-US" smtClean="0"/>
              <a:t>‹#›</a:t>
            </a:fld>
            <a:endParaRPr lang="en-US"/>
          </a:p>
        </p:txBody>
      </p:sp>
    </p:spTree>
    <p:extLst>
      <p:ext uri="{BB962C8B-B14F-4D97-AF65-F5344CB8AC3E}">
        <p14:creationId xmlns:p14="http://schemas.microsoft.com/office/powerpoint/2010/main" val="401847261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E37843DB-B82C-4582-ABDD-3D661F997BAF}" type="datetimeFigureOut">
              <a:rPr lang="en-US" smtClean="0"/>
              <a:t>5/20/2026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E00A3D9-1D4B-4F13-918F-A4ACA8FF2D5B}" type="slidenum">
              <a:rPr lang="en-US" smtClean="0"/>
              <a:t>‹#›</a:t>
            </a:fld>
            <a:endParaRPr lang="en-US"/>
          </a:p>
        </p:txBody>
      </p:sp>
    </p:spTree>
    <p:extLst>
      <p:ext uri="{BB962C8B-B14F-4D97-AF65-F5344CB8AC3E}">
        <p14:creationId xmlns:p14="http://schemas.microsoft.com/office/powerpoint/2010/main" val="58784814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37843DB-B82C-4582-ABDD-3D661F997BAF}"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00A3D9-1D4B-4F13-918F-A4ACA8FF2D5B}" type="slidenum">
              <a:rPr lang="en-US" smtClean="0"/>
              <a:t>‹#›</a:t>
            </a:fld>
            <a:endParaRPr lang="en-US"/>
          </a:p>
        </p:txBody>
      </p:sp>
    </p:spTree>
    <p:extLst>
      <p:ext uri="{BB962C8B-B14F-4D97-AF65-F5344CB8AC3E}">
        <p14:creationId xmlns:p14="http://schemas.microsoft.com/office/powerpoint/2010/main" val="195658508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37843DB-B82C-4582-ABDD-3D661F997BAF}"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00A3D9-1D4B-4F13-918F-A4ACA8FF2D5B}" type="slidenum">
              <a:rPr lang="en-US" smtClean="0"/>
              <a:t>‹#›</a:t>
            </a:fld>
            <a:endParaRPr lang="en-US"/>
          </a:p>
        </p:txBody>
      </p:sp>
    </p:spTree>
    <p:extLst>
      <p:ext uri="{BB962C8B-B14F-4D97-AF65-F5344CB8AC3E}">
        <p14:creationId xmlns:p14="http://schemas.microsoft.com/office/powerpoint/2010/main" val="210600064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E37843DB-B82C-4582-ABDD-3D661F997BAF}" type="datetimeFigureOut">
              <a:rPr lang="en-US" smtClean="0"/>
              <a:t>5/20/2026</a:t>
            </a:fld>
            <a:endParaRPr lang="en-US"/>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FE00A3D9-1D4B-4F13-918F-A4ACA8FF2D5B}" type="slidenum">
              <a:rPr lang="en-US" smtClean="0"/>
              <a:t>‹#›</a:t>
            </a:fld>
            <a:endParaRPr lang="en-US"/>
          </a:p>
        </p:txBody>
      </p:sp>
    </p:spTree>
    <p:extLst>
      <p:ext uri="{BB962C8B-B14F-4D97-AF65-F5344CB8AC3E}">
        <p14:creationId xmlns:p14="http://schemas.microsoft.com/office/powerpoint/2010/main" val="2961466232"/>
      </p:ext>
    </p:extLst>
  </p:cSld>
  <p:clrMap bg1="dk1" tx1="lt1" bg2="dk2" tx2="lt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7.jpg"/></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4.xml"/><Relationship Id="rId5" Type="http://schemas.openxmlformats.org/officeDocument/2006/relationships/image" Target="../media/image3.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42840-7B5C-075B-B019-DAEFA0037228}"/>
              </a:ext>
            </a:extLst>
          </p:cNvPr>
          <p:cNvSpPr>
            <a:spLocks noGrp="1"/>
          </p:cNvSpPr>
          <p:nvPr>
            <p:ph type="ctrTitle"/>
          </p:nvPr>
        </p:nvSpPr>
        <p:spPr>
          <a:xfrm>
            <a:off x="5334230" y="1233378"/>
            <a:ext cx="5897649" cy="2364964"/>
          </a:xfrm>
        </p:spPr>
        <p:txBody>
          <a:bodyPr>
            <a:normAutofit fontScale="90000"/>
          </a:bodyPr>
          <a:lstStyle/>
          <a:p>
            <a:pPr>
              <a:lnSpc>
                <a:spcPct val="90000"/>
              </a:lnSpc>
            </a:pPr>
            <a:r>
              <a:rPr lang="en-US">
                <a:latin typeface="LEMON MILK" panose="00000500000000000000" pitchFamily="50" charset="0"/>
              </a:rPr>
              <a:t>Perfect Fitness Club</a:t>
            </a:r>
            <a:br>
              <a:rPr lang="en-US">
                <a:latin typeface="LEMON MILK" panose="00000500000000000000" pitchFamily="50" charset="0"/>
              </a:rPr>
            </a:br>
            <a:r>
              <a:rPr lang="en-US">
                <a:latin typeface="LEMON MILK" panose="00000500000000000000" pitchFamily="50" charset="0"/>
              </a:rPr>
              <a:t>Advertisement Video</a:t>
            </a:r>
          </a:p>
        </p:txBody>
      </p:sp>
      <p:sp>
        <p:nvSpPr>
          <p:cNvPr id="3" name="Subtitle 2">
            <a:extLst>
              <a:ext uri="{FF2B5EF4-FFF2-40B4-BE49-F238E27FC236}">
                <a16:creationId xmlns:a16="http://schemas.microsoft.com/office/drawing/2014/main" id="{F582CA8B-0F4C-B761-83B2-49C5DA268EFF}"/>
              </a:ext>
            </a:extLst>
          </p:cNvPr>
          <p:cNvSpPr>
            <a:spLocks noGrp="1"/>
          </p:cNvSpPr>
          <p:nvPr>
            <p:ph type="subTitle" idx="1"/>
          </p:nvPr>
        </p:nvSpPr>
        <p:spPr>
          <a:xfrm>
            <a:off x="5367608" y="3598339"/>
            <a:ext cx="5864271" cy="1675335"/>
          </a:xfrm>
        </p:spPr>
        <p:txBody>
          <a:bodyPr>
            <a:normAutofit/>
          </a:bodyPr>
          <a:lstStyle/>
          <a:p>
            <a:r>
              <a:rPr lang="en-US"/>
              <a:t>CU5008NI Digital Media Project – 10 % Presentation</a:t>
            </a:r>
          </a:p>
          <a:p>
            <a:r>
              <a:rPr lang="en-US"/>
              <a:t>Student: Saugat Pradhan | ID: 22068811</a:t>
            </a:r>
          </a:p>
        </p:txBody>
      </p:sp>
      <p:sp>
        <p:nvSpPr>
          <p:cNvPr id="14" name="Rectangle 13">
            <a:extLst>
              <a:ext uri="{FF2B5EF4-FFF2-40B4-BE49-F238E27FC236}">
                <a16:creationId xmlns:a16="http://schemas.microsoft.com/office/drawing/2014/main" id="{4101A8DB-2694-489B-8697-9E273188DE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0615" y="965196"/>
            <a:ext cx="3685394" cy="4971787"/>
          </a:xfrm>
          <a:prstGeom prst="rect">
            <a:avLst/>
          </a:prstGeom>
          <a:solidFill>
            <a:schemeClr val="tx1"/>
          </a:solidFill>
          <a:ln w="190500">
            <a:solidFill>
              <a:schemeClr val="tx1">
                <a:alpha val="7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2.jpg">
            <a:extLst>
              <a:ext uri="{FF2B5EF4-FFF2-40B4-BE49-F238E27FC236}">
                <a16:creationId xmlns:a16="http://schemas.microsoft.com/office/drawing/2014/main" id="{6579C5E4-A589-2297-C400-A60114E76154}"/>
              </a:ext>
            </a:extLst>
          </p:cNvPr>
          <p:cNvPicPr/>
          <p:nvPr/>
        </p:nvPicPr>
        <p:blipFill>
          <a:blip r:embed="rId3"/>
          <a:stretch>
            <a:fillRect/>
          </a:stretch>
        </p:blipFill>
        <p:spPr>
          <a:xfrm>
            <a:off x="1110316" y="1258793"/>
            <a:ext cx="3397653" cy="1979132"/>
          </a:xfrm>
          <a:prstGeom prst="rect">
            <a:avLst/>
          </a:prstGeom>
        </p:spPr>
      </p:pic>
      <p:pic>
        <p:nvPicPr>
          <p:cNvPr id="5" name="image1.jpg" descr="mage result for islington college">
            <a:extLst>
              <a:ext uri="{FF2B5EF4-FFF2-40B4-BE49-F238E27FC236}">
                <a16:creationId xmlns:a16="http://schemas.microsoft.com/office/drawing/2014/main" id="{1DF1AD5B-FDFE-9F8C-6723-C9C21A6A52F0}"/>
              </a:ext>
            </a:extLst>
          </p:cNvPr>
          <p:cNvPicPr/>
          <p:nvPr/>
        </p:nvPicPr>
        <p:blipFill>
          <a:blip r:embed="rId4"/>
          <a:stretch>
            <a:fillRect/>
          </a:stretch>
        </p:blipFill>
        <p:spPr>
          <a:xfrm>
            <a:off x="1110316" y="3668586"/>
            <a:ext cx="3397653" cy="1979132"/>
          </a:xfrm>
          <a:prstGeom prst="rect">
            <a:avLst/>
          </a:prstGeom>
        </p:spPr>
      </p:pic>
    </p:spTree>
    <p:extLst>
      <p:ext uri="{BB962C8B-B14F-4D97-AF65-F5344CB8AC3E}">
        <p14:creationId xmlns:p14="http://schemas.microsoft.com/office/powerpoint/2010/main" val="284218823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A6C2C86-63BF-47D5-AA3F-905111A238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42C1A1-E503-3C9A-6086-B81FC7161657}"/>
              </a:ext>
            </a:extLst>
          </p:cNvPr>
          <p:cNvSpPr>
            <a:spLocks noGrp="1"/>
          </p:cNvSpPr>
          <p:nvPr>
            <p:ph type="title"/>
          </p:nvPr>
        </p:nvSpPr>
        <p:spPr>
          <a:xfrm>
            <a:off x="226204" y="1115568"/>
            <a:ext cx="4428401" cy="4626864"/>
          </a:xfrm>
        </p:spPr>
        <p:txBody>
          <a:bodyPr>
            <a:normAutofit/>
          </a:bodyPr>
          <a:lstStyle/>
          <a:p>
            <a:pPr algn="l"/>
            <a:r>
              <a:rPr lang="en-US" sz="3800" dirty="0"/>
              <a:t>INTRODUCTION</a:t>
            </a:r>
          </a:p>
        </p:txBody>
      </p:sp>
      <p:cxnSp>
        <p:nvCxnSpPr>
          <p:cNvPr id="10" name="Straight Connector 9">
            <a:extLst>
              <a:ext uri="{FF2B5EF4-FFF2-40B4-BE49-F238E27FC236}">
                <a16:creationId xmlns:a16="http://schemas.microsoft.com/office/drawing/2014/main" id="{425A0768-3044-4AA9-A889-D2CAA68C51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605" y="2057400"/>
            <a:ext cx="0" cy="274320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D85DD75-C9D7-C480-106C-95EEBC02694A}"/>
              </a:ext>
            </a:extLst>
          </p:cNvPr>
          <p:cNvSpPr>
            <a:spLocks noGrp="1"/>
          </p:cNvSpPr>
          <p:nvPr>
            <p:ph idx="1"/>
          </p:nvPr>
        </p:nvSpPr>
        <p:spPr>
          <a:xfrm>
            <a:off x="5105398" y="1115568"/>
            <a:ext cx="6245352" cy="4626864"/>
          </a:xfrm>
        </p:spPr>
        <p:txBody>
          <a:bodyPr anchor="ctr">
            <a:normAutofit/>
          </a:bodyPr>
          <a:lstStyle/>
          <a:p>
            <a:pPr marL="36900" indent="0">
              <a:buNone/>
            </a:pPr>
            <a:r>
              <a:rPr lang="en-US" sz="2800" dirty="0">
                <a:effectLst/>
              </a:rPr>
              <a:t>This project was entirely about creating a television commercial for the gym “Perfect Fitness Club” where the main motive of it was to motivate people and as well as make people aware about the healthy lifestyle and choices while leads to better life ahead</a:t>
            </a:r>
            <a:r>
              <a:rPr lang="en-US" dirty="0">
                <a:effectLst/>
              </a:rPr>
              <a:t>.</a:t>
            </a:r>
          </a:p>
        </p:txBody>
      </p:sp>
    </p:spTree>
    <p:extLst>
      <p:ext uri="{BB962C8B-B14F-4D97-AF65-F5344CB8AC3E}">
        <p14:creationId xmlns:p14="http://schemas.microsoft.com/office/powerpoint/2010/main" val="398294359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34109-6BAE-7D09-808E-DDC4659CF06D}"/>
              </a:ext>
            </a:extLst>
          </p:cNvPr>
          <p:cNvSpPr>
            <a:spLocks noGrp="1"/>
          </p:cNvSpPr>
          <p:nvPr>
            <p:ph type="title"/>
          </p:nvPr>
        </p:nvSpPr>
        <p:spPr/>
        <p:txBody>
          <a:bodyPr/>
          <a:lstStyle/>
          <a:p>
            <a:pPr algn="l"/>
            <a:r>
              <a:rPr lang="en-US" dirty="0"/>
              <a:t>Objectives</a:t>
            </a:r>
          </a:p>
        </p:txBody>
      </p:sp>
      <p:sp>
        <p:nvSpPr>
          <p:cNvPr id="3" name="Content Placeholder 2">
            <a:extLst>
              <a:ext uri="{FF2B5EF4-FFF2-40B4-BE49-F238E27FC236}">
                <a16:creationId xmlns:a16="http://schemas.microsoft.com/office/drawing/2014/main" id="{7D378E6D-8BA6-E9C1-E09B-C853B6AB10B9}"/>
              </a:ext>
            </a:extLst>
          </p:cNvPr>
          <p:cNvSpPr>
            <a:spLocks noGrp="1"/>
          </p:cNvSpPr>
          <p:nvPr>
            <p:ph idx="1"/>
          </p:nvPr>
        </p:nvSpPr>
        <p:spPr/>
        <p:txBody>
          <a:bodyPr>
            <a:normAutofit/>
          </a:bodyPr>
          <a:lstStyle/>
          <a:p>
            <a:r>
              <a:rPr lang="en-US" sz="2800" dirty="0"/>
              <a:t>Showcasing the atmosphere and ambience of the Perfect Fitness Club.</a:t>
            </a:r>
          </a:p>
          <a:p>
            <a:r>
              <a:rPr lang="en-US" sz="2800" dirty="0"/>
              <a:t>Highlighting the teamwork and motivation present within the gym premise with the help of footages.</a:t>
            </a:r>
          </a:p>
          <a:p>
            <a:r>
              <a:rPr lang="en-US" sz="2800" dirty="0"/>
              <a:t>Encouraging people to start their fitness journey and as well as making them relate to the advertisement</a:t>
            </a:r>
          </a:p>
        </p:txBody>
      </p:sp>
    </p:spTree>
    <p:extLst>
      <p:ext uri="{BB962C8B-B14F-4D97-AF65-F5344CB8AC3E}">
        <p14:creationId xmlns:p14="http://schemas.microsoft.com/office/powerpoint/2010/main" val="95672239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51862-348C-FFA4-899E-3DF3F640D234}"/>
              </a:ext>
            </a:extLst>
          </p:cNvPr>
          <p:cNvSpPr>
            <a:spLocks noGrp="1"/>
          </p:cNvSpPr>
          <p:nvPr>
            <p:ph type="title"/>
          </p:nvPr>
        </p:nvSpPr>
        <p:spPr/>
        <p:txBody>
          <a:bodyPr/>
          <a:lstStyle/>
          <a:p>
            <a:pPr algn="l"/>
            <a:r>
              <a:rPr lang="en-US" dirty="0"/>
              <a:t>Research Areas</a:t>
            </a:r>
          </a:p>
        </p:txBody>
      </p:sp>
      <p:sp>
        <p:nvSpPr>
          <p:cNvPr id="3" name="Content Placeholder 2">
            <a:extLst>
              <a:ext uri="{FF2B5EF4-FFF2-40B4-BE49-F238E27FC236}">
                <a16:creationId xmlns:a16="http://schemas.microsoft.com/office/drawing/2014/main" id="{7AB3B8EA-A0CA-DB38-B51A-F0377C08F92A}"/>
              </a:ext>
            </a:extLst>
          </p:cNvPr>
          <p:cNvSpPr>
            <a:spLocks noGrp="1"/>
          </p:cNvSpPr>
          <p:nvPr>
            <p:ph idx="1"/>
          </p:nvPr>
        </p:nvSpPr>
        <p:spPr/>
        <p:txBody>
          <a:bodyPr>
            <a:normAutofit/>
          </a:bodyPr>
          <a:lstStyle/>
          <a:p>
            <a:r>
              <a:rPr lang="en-US" sz="2800" dirty="0"/>
              <a:t>A deep dive into getting insights regarding the on-going gym trends and about the audience preference were studied.</a:t>
            </a:r>
          </a:p>
          <a:p>
            <a:r>
              <a:rPr lang="en-US" sz="2800" dirty="0"/>
              <a:t>Various fitness commercials were observed carefully and studied upon to gain some ideas about what makes an advertisement immersive.</a:t>
            </a:r>
          </a:p>
          <a:p>
            <a:r>
              <a:rPr lang="en-US" sz="2800" dirty="0"/>
              <a:t>Ideas about the art of storytelling was achieved along side the experiences on how visuals can be improved.</a:t>
            </a:r>
          </a:p>
        </p:txBody>
      </p:sp>
    </p:spTree>
    <p:extLst>
      <p:ext uri="{BB962C8B-B14F-4D97-AF65-F5344CB8AC3E}">
        <p14:creationId xmlns:p14="http://schemas.microsoft.com/office/powerpoint/2010/main" val="318580321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91EE6-AFB7-19BD-9508-EABF95E6CE6A}"/>
              </a:ext>
            </a:extLst>
          </p:cNvPr>
          <p:cNvSpPr>
            <a:spLocks noGrp="1"/>
          </p:cNvSpPr>
          <p:nvPr>
            <p:ph type="title"/>
          </p:nvPr>
        </p:nvSpPr>
        <p:spPr/>
        <p:txBody>
          <a:bodyPr/>
          <a:lstStyle/>
          <a:p>
            <a:pPr algn="l"/>
            <a:r>
              <a:rPr lang="en-US" dirty="0"/>
              <a:t>Technologies used</a:t>
            </a:r>
          </a:p>
        </p:txBody>
      </p:sp>
      <p:sp>
        <p:nvSpPr>
          <p:cNvPr id="3" name="Content Placeholder 2">
            <a:extLst>
              <a:ext uri="{FF2B5EF4-FFF2-40B4-BE49-F238E27FC236}">
                <a16:creationId xmlns:a16="http://schemas.microsoft.com/office/drawing/2014/main" id="{8BE3AF64-A883-DD11-FE01-552F8F752C86}"/>
              </a:ext>
            </a:extLst>
          </p:cNvPr>
          <p:cNvSpPr>
            <a:spLocks noGrp="1"/>
          </p:cNvSpPr>
          <p:nvPr>
            <p:ph idx="1"/>
          </p:nvPr>
        </p:nvSpPr>
        <p:spPr/>
        <p:txBody>
          <a:bodyPr/>
          <a:lstStyle/>
          <a:p>
            <a:r>
              <a:rPr lang="en-US" sz="2400" dirty="0"/>
              <a:t>Adobe Premiere Pro – Video Editing</a:t>
            </a:r>
          </a:p>
          <a:p>
            <a:r>
              <a:rPr lang="en-US" sz="2400" dirty="0"/>
              <a:t>Adobe After Effects – Animation</a:t>
            </a:r>
          </a:p>
          <a:p>
            <a:r>
              <a:rPr lang="en-US" sz="2400" dirty="0"/>
              <a:t>Adobe Photoshop &amp; Illustrator – Graphics</a:t>
            </a:r>
          </a:p>
          <a:p>
            <a:r>
              <a:rPr lang="en-US" sz="2400" dirty="0"/>
              <a:t>Google Forms &amp; Excel – Survey</a:t>
            </a:r>
          </a:p>
          <a:p>
            <a:r>
              <a:rPr lang="en-US" sz="2400" dirty="0"/>
              <a:t>Samsung Galaxy S24 Camera</a:t>
            </a:r>
          </a:p>
          <a:p>
            <a:r>
              <a:rPr lang="en-US" sz="2400" dirty="0"/>
              <a:t>HP Victus Laptop</a:t>
            </a:r>
          </a:p>
          <a:p>
            <a:r>
              <a:rPr lang="en-US" sz="2400" dirty="0"/>
              <a:t>Tripod for stable shots</a:t>
            </a:r>
          </a:p>
          <a:p>
            <a:endParaRPr lang="en-US" dirty="0"/>
          </a:p>
        </p:txBody>
      </p:sp>
    </p:spTree>
    <p:extLst>
      <p:ext uri="{BB962C8B-B14F-4D97-AF65-F5344CB8AC3E}">
        <p14:creationId xmlns:p14="http://schemas.microsoft.com/office/powerpoint/2010/main" val="136161336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46A7B-2ADE-26E7-E274-83C74C91F92D}"/>
              </a:ext>
            </a:extLst>
          </p:cNvPr>
          <p:cNvSpPr>
            <a:spLocks noGrp="1"/>
          </p:cNvSpPr>
          <p:nvPr>
            <p:ph type="title"/>
          </p:nvPr>
        </p:nvSpPr>
        <p:spPr/>
        <p:txBody>
          <a:bodyPr/>
          <a:lstStyle/>
          <a:p>
            <a:pPr algn="l"/>
            <a:r>
              <a:rPr lang="en-US" dirty="0"/>
              <a:t>Pre-production</a:t>
            </a:r>
          </a:p>
        </p:txBody>
      </p:sp>
      <p:sp>
        <p:nvSpPr>
          <p:cNvPr id="3" name="Content Placeholder 2">
            <a:extLst>
              <a:ext uri="{FF2B5EF4-FFF2-40B4-BE49-F238E27FC236}">
                <a16:creationId xmlns:a16="http://schemas.microsoft.com/office/drawing/2014/main" id="{7FC89444-95B8-A619-A8FA-ECDF2B84A251}"/>
              </a:ext>
            </a:extLst>
          </p:cNvPr>
          <p:cNvSpPr>
            <a:spLocks noGrp="1"/>
          </p:cNvSpPr>
          <p:nvPr>
            <p:ph idx="1"/>
          </p:nvPr>
        </p:nvSpPr>
        <p:spPr/>
        <p:txBody>
          <a:bodyPr>
            <a:normAutofit/>
          </a:bodyPr>
          <a:lstStyle/>
          <a:p>
            <a:r>
              <a:rPr lang="en-US" sz="2800" dirty="0"/>
              <a:t>Concept was created alongside the storyboard.</a:t>
            </a:r>
          </a:p>
          <a:p>
            <a:r>
              <a:rPr lang="en-US" sz="2800" dirty="0"/>
              <a:t>Script was created according to the shooting plans.</a:t>
            </a:r>
          </a:p>
          <a:p>
            <a:r>
              <a:rPr lang="en-US" sz="2800" dirty="0"/>
              <a:t>Logo design was made for the Perfect Fitness Club.</a:t>
            </a:r>
          </a:p>
          <a:p>
            <a:pPr marL="36900" indent="0">
              <a:buNone/>
            </a:pPr>
            <a:r>
              <a:rPr lang="en-US" sz="2800" dirty="0"/>
              <a:t>   </a:t>
            </a:r>
          </a:p>
        </p:txBody>
      </p:sp>
    </p:spTree>
    <p:extLst>
      <p:ext uri="{BB962C8B-B14F-4D97-AF65-F5344CB8AC3E}">
        <p14:creationId xmlns:p14="http://schemas.microsoft.com/office/powerpoint/2010/main" val="223154523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F282D-EC1B-955B-5C56-55799FE9B18C}"/>
              </a:ext>
            </a:extLst>
          </p:cNvPr>
          <p:cNvSpPr>
            <a:spLocks noGrp="1"/>
          </p:cNvSpPr>
          <p:nvPr>
            <p:ph type="title"/>
          </p:nvPr>
        </p:nvSpPr>
        <p:spPr/>
        <p:txBody>
          <a:bodyPr/>
          <a:lstStyle/>
          <a:p>
            <a:pPr algn="l"/>
            <a:r>
              <a:rPr lang="en-US" dirty="0"/>
              <a:t>Production Process</a:t>
            </a:r>
          </a:p>
        </p:txBody>
      </p:sp>
      <p:sp>
        <p:nvSpPr>
          <p:cNvPr id="3" name="Content Placeholder 2">
            <a:extLst>
              <a:ext uri="{FF2B5EF4-FFF2-40B4-BE49-F238E27FC236}">
                <a16:creationId xmlns:a16="http://schemas.microsoft.com/office/drawing/2014/main" id="{656643C6-F0B2-20A9-F02D-6FA860F5E39D}"/>
              </a:ext>
            </a:extLst>
          </p:cNvPr>
          <p:cNvSpPr>
            <a:spLocks noGrp="1"/>
          </p:cNvSpPr>
          <p:nvPr>
            <p:ph idx="1"/>
          </p:nvPr>
        </p:nvSpPr>
        <p:spPr/>
        <p:txBody>
          <a:bodyPr>
            <a:normAutofit/>
          </a:bodyPr>
          <a:lstStyle/>
          <a:p>
            <a:r>
              <a:rPr lang="en-US" sz="2800" dirty="0"/>
              <a:t>Videos were recorded inside the gym which showed the entire gym ambience and as well as people working out together.</a:t>
            </a:r>
          </a:p>
          <a:p>
            <a:r>
              <a:rPr lang="en-US" sz="2800" dirty="0"/>
              <a:t>Transition between the scenes were set precisely with respect to the music selected for the commercial.</a:t>
            </a:r>
          </a:p>
          <a:p>
            <a:r>
              <a:rPr lang="en-US" sz="2800" dirty="0"/>
              <a:t>Camera angles were fiddled out to achieve a cinematic visuals of the gym.</a:t>
            </a:r>
          </a:p>
        </p:txBody>
      </p:sp>
    </p:spTree>
    <p:extLst>
      <p:ext uri="{BB962C8B-B14F-4D97-AF65-F5344CB8AC3E}">
        <p14:creationId xmlns:p14="http://schemas.microsoft.com/office/powerpoint/2010/main" val="92809873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0EF2A0DA-AE81-4A45-972E-646AC2870C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Content Placeholder 7">
            <a:extLst>
              <a:ext uri="{FF2B5EF4-FFF2-40B4-BE49-F238E27FC236}">
                <a16:creationId xmlns:a16="http://schemas.microsoft.com/office/drawing/2014/main" id="{CEBD31DC-E46F-15A3-1202-6516D5C4F494}"/>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l="11711" r="2" b="2"/>
          <a:stretch>
            <a:fillRect/>
          </a:stretch>
        </p:blipFill>
        <p:spPr>
          <a:xfrm>
            <a:off x="-8622" y="10"/>
            <a:ext cx="6096000" cy="3383270"/>
          </a:xfrm>
          <a:prstGeom prst="rect">
            <a:avLst/>
          </a:prstGeom>
        </p:spPr>
      </p:pic>
      <p:pic>
        <p:nvPicPr>
          <p:cNvPr id="6" name="Content Placeholder 5">
            <a:extLst>
              <a:ext uri="{FF2B5EF4-FFF2-40B4-BE49-F238E27FC236}">
                <a16:creationId xmlns:a16="http://schemas.microsoft.com/office/drawing/2014/main" id="{765EC401-3B82-AD60-EF79-6A8962038629}"/>
              </a:ext>
            </a:extLst>
          </p:cNvPr>
          <p:cNvPicPr>
            <a:picLocks noChangeAspect="1"/>
          </p:cNvPicPr>
          <p:nvPr/>
        </p:nvPicPr>
        <p:blipFill>
          <a:blip r:embed="rId4">
            <a:extLst>
              <a:ext uri="{28A0092B-C50C-407E-A947-70E740481C1C}">
                <a14:useLocalDpi xmlns:a14="http://schemas.microsoft.com/office/drawing/2010/main" val="0"/>
              </a:ext>
            </a:extLst>
          </a:blip>
          <a:srcRect l="10457" r="1542" b="-1"/>
          <a:stretch>
            <a:fillRect/>
          </a:stretch>
        </p:blipFill>
        <p:spPr>
          <a:xfrm>
            <a:off x="-10647" y="3429000"/>
            <a:ext cx="6096000" cy="3429000"/>
          </a:xfrm>
          <a:prstGeom prst="rect">
            <a:avLst/>
          </a:prstGeom>
        </p:spPr>
      </p:pic>
      <p:pic>
        <p:nvPicPr>
          <p:cNvPr id="17" name="Picture 16">
            <a:extLst>
              <a:ext uri="{FF2B5EF4-FFF2-40B4-BE49-F238E27FC236}">
                <a16:creationId xmlns:a16="http://schemas.microsoft.com/office/drawing/2014/main" id="{B536FA4E-0152-4E27-91DA-0FC22D1846B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964" r="2807" b="1446"/>
          <a:stretch/>
        </p:blipFill>
        <p:spPr>
          <a:xfrm>
            <a:off x="6257026" y="1"/>
            <a:ext cx="5934973" cy="6858000"/>
          </a:xfrm>
          <a:prstGeom prst="rect">
            <a:avLst/>
          </a:prstGeom>
        </p:spPr>
      </p:pic>
      <p:sp>
        <p:nvSpPr>
          <p:cNvPr id="2" name="Title 1">
            <a:extLst>
              <a:ext uri="{FF2B5EF4-FFF2-40B4-BE49-F238E27FC236}">
                <a16:creationId xmlns:a16="http://schemas.microsoft.com/office/drawing/2014/main" id="{53247C2E-BF3F-F2DA-092C-DBC7BBE2032E}"/>
              </a:ext>
            </a:extLst>
          </p:cNvPr>
          <p:cNvSpPr>
            <a:spLocks noGrp="1"/>
          </p:cNvSpPr>
          <p:nvPr>
            <p:ph type="title"/>
          </p:nvPr>
        </p:nvSpPr>
        <p:spPr>
          <a:xfrm>
            <a:off x="6900493" y="609600"/>
            <a:ext cx="4538124" cy="970450"/>
          </a:xfrm>
        </p:spPr>
        <p:txBody>
          <a:bodyPr vert="horz" lIns="91440" tIns="45720" rIns="91440" bIns="45720" rtlCol="0" anchor="b">
            <a:normAutofit/>
          </a:bodyPr>
          <a:lstStyle/>
          <a:p>
            <a:pPr algn="l">
              <a:lnSpc>
                <a:spcPct val="90000"/>
              </a:lnSpc>
            </a:pPr>
            <a:r>
              <a:rPr lang="en-US" sz="3200" dirty="0"/>
              <a:t>Editing &amp; </a:t>
            </a:r>
            <a:br>
              <a:rPr lang="en-US" sz="3200" dirty="0"/>
            </a:br>
            <a:r>
              <a:rPr lang="en-US" sz="3200" dirty="0"/>
              <a:t>Post-production</a:t>
            </a:r>
          </a:p>
        </p:txBody>
      </p:sp>
      <p:sp>
        <p:nvSpPr>
          <p:cNvPr id="19" name="Content Placeholder 11">
            <a:extLst>
              <a:ext uri="{FF2B5EF4-FFF2-40B4-BE49-F238E27FC236}">
                <a16:creationId xmlns:a16="http://schemas.microsoft.com/office/drawing/2014/main" id="{754A681C-C573-4943-EAEC-E3987EC8F509}"/>
              </a:ext>
            </a:extLst>
          </p:cNvPr>
          <p:cNvSpPr>
            <a:spLocks noGrp="1"/>
          </p:cNvSpPr>
          <p:nvPr>
            <p:ph sz="half" idx="1"/>
          </p:nvPr>
        </p:nvSpPr>
        <p:spPr>
          <a:xfrm>
            <a:off x="6900493" y="1732449"/>
            <a:ext cx="4403596" cy="4058751"/>
          </a:xfrm>
        </p:spPr>
        <p:txBody>
          <a:bodyPr vert="horz" lIns="91440" tIns="45720" rIns="91440" bIns="45720" rtlCol="0" anchor="t">
            <a:normAutofit/>
          </a:bodyPr>
          <a:lstStyle/>
          <a:p>
            <a:r>
              <a:rPr lang="en-US" sz="1800" dirty="0"/>
              <a:t>Every footage were imported into premiere pro  for modulating the lighting and as well as colors altogether for better visuals.</a:t>
            </a:r>
          </a:p>
          <a:p>
            <a:r>
              <a:rPr lang="en-US" sz="1800" dirty="0"/>
              <a:t>Various effects like De-noise, sharpen &amp; unsharp mask, lighting (direction), lumetri color were used for the overall editing process.</a:t>
            </a:r>
          </a:p>
          <a:p>
            <a:r>
              <a:rPr lang="en-US" sz="1800" dirty="0"/>
              <a:t>For the audio exponential fade was used so that the music fades out smoothly.</a:t>
            </a:r>
          </a:p>
        </p:txBody>
      </p:sp>
    </p:spTree>
    <p:extLst>
      <p:ext uri="{BB962C8B-B14F-4D97-AF65-F5344CB8AC3E}">
        <p14:creationId xmlns:p14="http://schemas.microsoft.com/office/powerpoint/2010/main" val="286947960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98D87-4F22-C8D2-61F8-B01787E1A1BC}"/>
            </a:ext>
          </a:extLst>
        </p:cNvPr>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D3AB9F5D-FA8E-DECB-707A-FA20035DEFB0}"/>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rcRect l="11711" r="2" b="2"/>
          <a:stretch>
            <a:fillRect/>
          </a:stretch>
        </p:blipFill>
        <p:spPr>
          <a:xfrm>
            <a:off x="-8622" y="10"/>
            <a:ext cx="6096000" cy="3383270"/>
          </a:xfrm>
          <a:prstGeom prst="rect">
            <a:avLst/>
          </a:prstGeom>
        </p:spPr>
      </p:pic>
      <p:pic>
        <p:nvPicPr>
          <p:cNvPr id="6" name="Content Placeholder 5">
            <a:extLst>
              <a:ext uri="{FF2B5EF4-FFF2-40B4-BE49-F238E27FC236}">
                <a16:creationId xmlns:a16="http://schemas.microsoft.com/office/drawing/2014/main" id="{09997220-9285-B786-E015-8395895C0BA7}"/>
              </a:ext>
            </a:extLst>
          </p:cNvPr>
          <p:cNvPicPr>
            <a:picLocks noChangeAspect="1"/>
          </p:cNvPicPr>
          <p:nvPr/>
        </p:nvPicPr>
        <p:blipFill>
          <a:blip r:embed="rId3">
            <a:extLst>
              <a:ext uri="{28A0092B-C50C-407E-A947-70E740481C1C}">
                <a14:useLocalDpi xmlns:a14="http://schemas.microsoft.com/office/drawing/2010/main" val="0"/>
              </a:ext>
            </a:extLst>
          </a:blip>
          <a:srcRect l="10457" r="1542" b="-1"/>
          <a:stretch>
            <a:fillRect/>
          </a:stretch>
        </p:blipFill>
        <p:spPr>
          <a:xfrm>
            <a:off x="-10647" y="3429000"/>
            <a:ext cx="6096000" cy="3429000"/>
          </a:xfrm>
          <a:prstGeom prst="rect">
            <a:avLst/>
          </a:prstGeom>
        </p:spPr>
      </p:pic>
      <p:sp>
        <p:nvSpPr>
          <p:cNvPr id="2" name="Title 1">
            <a:extLst>
              <a:ext uri="{FF2B5EF4-FFF2-40B4-BE49-F238E27FC236}">
                <a16:creationId xmlns:a16="http://schemas.microsoft.com/office/drawing/2014/main" id="{E1F3458E-4919-2D89-CFEE-798D7A43F03A}"/>
              </a:ext>
            </a:extLst>
          </p:cNvPr>
          <p:cNvSpPr>
            <a:spLocks noGrp="1"/>
          </p:cNvSpPr>
          <p:nvPr>
            <p:ph type="title"/>
          </p:nvPr>
        </p:nvSpPr>
        <p:spPr>
          <a:xfrm>
            <a:off x="6900493" y="609600"/>
            <a:ext cx="4538124" cy="970450"/>
          </a:xfrm>
        </p:spPr>
        <p:txBody>
          <a:bodyPr vert="horz" lIns="91440" tIns="45720" rIns="91440" bIns="45720" rtlCol="0" anchor="b">
            <a:normAutofit/>
          </a:bodyPr>
          <a:lstStyle/>
          <a:p>
            <a:pPr algn="l">
              <a:lnSpc>
                <a:spcPct val="90000"/>
              </a:lnSpc>
            </a:pPr>
            <a:r>
              <a:rPr lang="en-US" sz="3200" dirty="0"/>
              <a:t>Logo Animation</a:t>
            </a:r>
          </a:p>
        </p:txBody>
      </p:sp>
      <p:sp>
        <p:nvSpPr>
          <p:cNvPr id="19" name="Content Placeholder 11">
            <a:extLst>
              <a:ext uri="{FF2B5EF4-FFF2-40B4-BE49-F238E27FC236}">
                <a16:creationId xmlns:a16="http://schemas.microsoft.com/office/drawing/2014/main" id="{05445E15-BDCF-E213-B699-2E993A04E699}"/>
              </a:ext>
            </a:extLst>
          </p:cNvPr>
          <p:cNvSpPr>
            <a:spLocks noGrp="1"/>
          </p:cNvSpPr>
          <p:nvPr>
            <p:ph sz="half" idx="1"/>
          </p:nvPr>
        </p:nvSpPr>
        <p:spPr>
          <a:xfrm>
            <a:off x="6900493" y="1732449"/>
            <a:ext cx="4403596" cy="4058751"/>
          </a:xfrm>
        </p:spPr>
        <p:txBody>
          <a:bodyPr vert="horz" lIns="91440" tIns="45720" rIns="91440" bIns="45720" rtlCol="0" anchor="t">
            <a:normAutofit/>
          </a:bodyPr>
          <a:lstStyle/>
          <a:p>
            <a:r>
              <a:rPr lang="en-US" sz="1800" dirty="0"/>
              <a:t>Logo animation was carried out in Adobe After Effects.</a:t>
            </a:r>
          </a:p>
          <a:p>
            <a:r>
              <a:rPr lang="en-US" sz="1800" dirty="0"/>
              <a:t>The techniques of 3D motion graphics were used for the proper animation of the light rays and the logo which appears .</a:t>
            </a:r>
          </a:p>
          <a:p>
            <a:r>
              <a:rPr lang="en-US" sz="1800" dirty="0"/>
              <a:t>Keyframes were added for the positioning of the camera , opacity and as well as the lightings.</a:t>
            </a:r>
          </a:p>
        </p:txBody>
      </p:sp>
    </p:spTree>
    <p:extLst>
      <p:ext uri="{BB962C8B-B14F-4D97-AF65-F5344CB8AC3E}">
        <p14:creationId xmlns:p14="http://schemas.microsoft.com/office/powerpoint/2010/main" val="159477189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B5A63-2952-678A-E218-0DCA77E488CB}"/>
              </a:ext>
            </a:extLst>
          </p:cNvPr>
          <p:cNvSpPr>
            <a:spLocks noGrp="1"/>
          </p:cNvSpPr>
          <p:nvPr>
            <p:ph type="title"/>
          </p:nvPr>
        </p:nvSpPr>
        <p:spPr/>
        <p:txBody>
          <a:bodyPr/>
          <a:lstStyle/>
          <a:p>
            <a:pPr algn="l"/>
            <a:r>
              <a:rPr lang="en-US" dirty="0"/>
              <a:t>User Testing &amp; findings</a:t>
            </a:r>
          </a:p>
        </p:txBody>
      </p:sp>
      <p:sp>
        <p:nvSpPr>
          <p:cNvPr id="3" name="Content Placeholder 2">
            <a:extLst>
              <a:ext uri="{FF2B5EF4-FFF2-40B4-BE49-F238E27FC236}">
                <a16:creationId xmlns:a16="http://schemas.microsoft.com/office/drawing/2014/main" id="{FE844793-315A-5B54-DB5E-C20AA90A3FE0}"/>
              </a:ext>
            </a:extLst>
          </p:cNvPr>
          <p:cNvSpPr>
            <a:spLocks noGrp="1"/>
          </p:cNvSpPr>
          <p:nvPr>
            <p:ph idx="1"/>
          </p:nvPr>
        </p:nvSpPr>
        <p:spPr/>
        <p:txBody>
          <a:bodyPr>
            <a:normAutofit/>
          </a:bodyPr>
          <a:lstStyle/>
          <a:p>
            <a:r>
              <a:rPr lang="en-US" sz="2800" dirty="0"/>
              <a:t>From the survey carried out majority of the audience gave a positive feedbacks about how the visuals and as well as the intensity of the workout complimented one another.</a:t>
            </a:r>
          </a:p>
          <a:p>
            <a:r>
              <a:rPr lang="en-US" sz="2800" dirty="0"/>
              <a:t>Proper selection of song was also mentioned who showed that precise selection of the music can vastly improve the overall commercials</a:t>
            </a:r>
          </a:p>
          <a:p>
            <a:r>
              <a:rPr lang="en-US" sz="2800" dirty="0"/>
              <a:t>People seemed inspired and motivated to sign up for the gym from the glimpse of the workout sessions.</a:t>
            </a:r>
          </a:p>
        </p:txBody>
      </p:sp>
    </p:spTree>
    <p:extLst>
      <p:ext uri="{BB962C8B-B14F-4D97-AF65-F5344CB8AC3E}">
        <p14:creationId xmlns:p14="http://schemas.microsoft.com/office/powerpoint/2010/main" val="423104499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AF7B2-A159-CAE0-D05A-10F4786BB146}"/>
              </a:ext>
            </a:extLst>
          </p:cNvPr>
          <p:cNvSpPr>
            <a:spLocks noGrp="1"/>
          </p:cNvSpPr>
          <p:nvPr>
            <p:ph type="title"/>
          </p:nvPr>
        </p:nvSpPr>
        <p:spPr/>
        <p:txBody>
          <a:bodyPr/>
          <a:lstStyle/>
          <a:p>
            <a:pPr algn="l"/>
            <a:r>
              <a:rPr lang="en-US" dirty="0"/>
              <a:t>Thank you</a:t>
            </a:r>
          </a:p>
        </p:txBody>
      </p:sp>
      <p:sp>
        <p:nvSpPr>
          <p:cNvPr id="3" name="Content Placeholder 2">
            <a:extLst>
              <a:ext uri="{FF2B5EF4-FFF2-40B4-BE49-F238E27FC236}">
                <a16:creationId xmlns:a16="http://schemas.microsoft.com/office/drawing/2014/main" id="{8501A726-C397-4DD2-AF4F-1A4B46663704}"/>
              </a:ext>
            </a:extLst>
          </p:cNvPr>
          <p:cNvSpPr>
            <a:spLocks noGrp="1"/>
          </p:cNvSpPr>
          <p:nvPr>
            <p:ph idx="1"/>
          </p:nvPr>
        </p:nvSpPr>
        <p:spPr/>
        <p:txBody>
          <a:bodyPr/>
          <a:lstStyle/>
          <a:p>
            <a:pPr marL="36900" indent="0">
              <a:buNone/>
            </a:pPr>
            <a:r>
              <a:rPr lang="en-GB" sz="2800" dirty="0">
                <a:effectLst/>
              </a:rPr>
              <a:t>I would like to show my utmost respect and gratitude towards my internal supervisor Mr. Bijay Shrestha and external supervisor Ms. Aarsha Maharjan for providing me immense support through the project and for being patience with me throughout the entire learning progress.</a:t>
            </a:r>
            <a:endParaRPr lang="en-US" sz="2800" dirty="0">
              <a:effectLst/>
            </a:endParaRPr>
          </a:p>
          <a:p>
            <a:pPr marL="36900" indent="0">
              <a:buNone/>
            </a:pPr>
            <a:endParaRPr lang="en-US" dirty="0"/>
          </a:p>
        </p:txBody>
      </p:sp>
    </p:spTree>
    <p:extLst>
      <p:ext uri="{BB962C8B-B14F-4D97-AF65-F5344CB8AC3E}">
        <p14:creationId xmlns:p14="http://schemas.microsoft.com/office/powerpoint/2010/main" val="177512214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docProps/app.xml><?xml version="1.0" encoding="utf-8"?>
<Properties xmlns="http://schemas.openxmlformats.org/officeDocument/2006/extended-properties" xmlns:vt="http://schemas.openxmlformats.org/officeDocument/2006/docPropsVTypes">
  <Template>TM04033929[[fn=Slate]]</Template>
  <TotalTime>58</TotalTime>
  <Words>530</Words>
  <Application>Microsoft Office PowerPoint</Application>
  <PresentationFormat>Widescreen</PresentationFormat>
  <Paragraphs>44</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Calisto MT</vt:lpstr>
      <vt:lpstr>LEMON MILK</vt:lpstr>
      <vt:lpstr>Wingdings 2</vt:lpstr>
      <vt:lpstr>Slate</vt:lpstr>
      <vt:lpstr>Perfect Fitness Club Advertisement Video</vt:lpstr>
      <vt:lpstr>INTRODUCTION</vt:lpstr>
      <vt:lpstr>Objectives</vt:lpstr>
      <vt:lpstr>Research Areas</vt:lpstr>
      <vt:lpstr>Technologies used</vt:lpstr>
      <vt:lpstr>Pre-production</vt:lpstr>
      <vt:lpstr>Production Process</vt:lpstr>
      <vt:lpstr>Editing &amp;  Post-production</vt:lpstr>
      <vt:lpstr>Logo Animation</vt:lpstr>
      <vt:lpstr>User Testing &amp; findings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Saugat Pradhan</dc:creator>
  <cp:lastModifiedBy>Saugat Pradhan</cp:lastModifiedBy>
  <cp:revision>20</cp:revision>
  <dcterms:created xsi:type="dcterms:W3CDTF">2026-05-20T10:04:55Z</dcterms:created>
  <dcterms:modified xsi:type="dcterms:W3CDTF">2026-05-20T11:03:28Z</dcterms:modified>
</cp:coreProperties>
</file>